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Instrument Sans Medium"/>
      <p:regular r:id="rId15"/>
    </p:embeddedFont>
    <p:embeddedFont>
      <p:font typeface="Instrument Sans Medium"/>
      <p:regular r:id="rId16"/>
    </p:embeddedFon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2802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Организация работы с нарушителями ПДД: взгляд изнутри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94522"/>
            <a:ext cx="75564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Тема: Процесс организации работы с нарушителями правил дорожного движения с точки зрения работника милиции.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620351" y="5665351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БПОУ ВО ЧЛМТ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20351" y="6283404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Выполнили: Калачев, Караулов, Денисов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5410200"/>
            <a:ext cx="30480" cy="1491258"/>
          </a:xfrm>
          <a:prstGeom prst="rect">
            <a:avLst/>
          </a:prstGeom>
          <a:solidFill>
            <a:srgbClr val="F5F54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519" y="889873"/>
            <a:ext cx="12727543" cy="61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Анализ конкурентов: Преимущества нашего подхода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726519" y="1900476"/>
            <a:ext cx="6490097" cy="2837855"/>
          </a:xfrm>
          <a:prstGeom prst="roundRect">
            <a:avLst>
              <a:gd name="adj" fmla="val 1042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379" y="1923336"/>
            <a:ext cx="6444377" cy="591622"/>
          </a:xfrm>
          <a:prstGeom prst="roundRect">
            <a:avLst>
              <a:gd name="adj" fmla="val 364"/>
            </a:avLst>
          </a:prstGeom>
          <a:solidFill>
            <a:srgbClr val="3E3E3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3692" y="2034302"/>
            <a:ext cx="295751" cy="3696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6547" y="2712125"/>
            <a:ext cx="246530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Конкуренты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46547" y="3138488"/>
            <a:ext cx="6050042" cy="63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Системы автоматической фиксации нарушений (например, VoiceLink).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46547" y="3887510"/>
            <a:ext cx="6050042" cy="63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Эти системы фокусируются в основном на сборе данных и автоматическом штрафовании.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13784" y="1900476"/>
            <a:ext cx="6490097" cy="2837855"/>
          </a:xfrm>
          <a:prstGeom prst="roundRect">
            <a:avLst>
              <a:gd name="adj" fmla="val 1042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36644" y="1923336"/>
            <a:ext cx="6444377" cy="591622"/>
          </a:xfrm>
          <a:prstGeom prst="roundRect">
            <a:avLst>
              <a:gd name="adj" fmla="val 364"/>
            </a:avLst>
          </a:prstGeom>
          <a:solidFill>
            <a:srgbClr val="3E3E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957" y="2034302"/>
            <a:ext cx="295751" cy="36968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3811" y="2712125"/>
            <a:ext cx="246530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Интеграция с ГИБДД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633811" y="3138488"/>
            <a:ext cx="6050042" cy="94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Интеграция с существующими базами данных ГИБДД, что обеспечивает </a:t>
            </a:r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более быструю и точную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обработку информации в реальном времени.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26519" y="4935498"/>
            <a:ext cx="6490097" cy="2404229"/>
          </a:xfrm>
          <a:prstGeom prst="roundRect">
            <a:avLst>
              <a:gd name="adj" fmla="val 1230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379" y="4958358"/>
            <a:ext cx="6444377" cy="591622"/>
          </a:xfrm>
          <a:prstGeom prst="roundRect">
            <a:avLst>
              <a:gd name="adj" fmla="val 364"/>
            </a:avLst>
          </a:prstGeom>
          <a:solidFill>
            <a:srgbClr val="3E3E3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692" y="5069324"/>
            <a:ext cx="295751" cy="36968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6547" y="5747147"/>
            <a:ext cx="3209687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Эргономичный интерфейс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46547" y="6173510"/>
            <a:ext cx="6050042" cy="94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Разработка удобного интерфейса для сотрудников милиции, </a:t>
            </a:r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упрощающего процесс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вынесения постановлений и минимизирующего ошибки.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413784" y="4935498"/>
            <a:ext cx="6490097" cy="2404229"/>
          </a:xfrm>
          <a:prstGeom prst="roundRect">
            <a:avLst>
              <a:gd name="adj" fmla="val 1230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36644" y="4958358"/>
            <a:ext cx="6444377" cy="591622"/>
          </a:xfrm>
          <a:prstGeom prst="roundRect">
            <a:avLst>
              <a:gd name="adj" fmla="val 364"/>
            </a:avLst>
          </a:prstGeom>
          <a:solidFill>
            <a:srgbClr val="3E3E3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0957" y="5069324"/>
            <a:ext cx="295751" cy="36968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3811" y="5747147"/>
            <a:ext cx="246530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Система обучения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633811" y="6173510"/>
            <a:ext cx="6050042" cy="94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Внедрение модуля обучения и поддержки для повышения квалификации сотрудников и адаптации к новым законодательным изменениям.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8542"/>
            <a:ext cx="7556421" cy="202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Визуализация проекта: Концепция главного окна системы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93790" y="3061930"/>
            <a:ext cx="755642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Наш проект направлен на создание интуитивно понятного и эффективного инструмента для сотрудников ГИБДД, обеспечивающего мгновенный доступ к необходимой информации.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93790" y="4338757"/>
            <a:ext cx="7556421" cy="3172301"/>
          </a:xfrm>
          <a:prstGeom prst="roundRect">
            <a:avLst>
              <a:gd name="adj" fmla="val 1019"/>
            </a:avLst>
          </a:prstGeom>
          <a:solidFill>
            <a:srgbClr val="3E3E3E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4338757"/>
            <a:ext cx="3778210" cy="1930956"/>
          </a:xfrm>
          <a:prstGeom prst="roundRect">
            <a:avLst>
              <a:gd name="adj" fmla="val 1674"/>
            </a:avLst>
          </a:prstGeom>
          <a:solidFill>
            <a:srgbClr val="3E3E3E"/>
          </a:solidFill>
          <a:ln/>
        </p:spPr>
      </p:sp>
      <p:sp>
        <p:nvSpPr>
          <p:cNvPr id="7" name="Text 4"/>
          <p:cNvSpPr/>
          <p:nvPr/>
        </p:nvSpPr>
        <p:spPr>
          <a:xfrm>
            <a:off x="1009174" y="455414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Крупные кнопки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09174" y="5019913"/>
            <a:ext cx="302418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Быстрый доступ к основным функциям.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572000" y="4338757"/>
            <a:ext cx="3778210" cy="1930956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4338757"/>
            <a:ext cx="30480" cy="1930956"/>
          </a:xfrm>
          <a:prstGeom prst="roundRect">
            <a:avLst>
              <a:gd name="adj" fmla="val 106046"/>
            </a:avLst>
          </a:prstGeom>
          <a:solidFill>
            <a:srgbClr val="575757"/>
          </a:solidFill>
          <a:ln/>
        </p:spPr>
      </p:sp>
      <p:sp>
        <p:nvSpPr>
          <p:cNvPr id="11" name="Text 8"/>
          <p:cNvSpPr/>
          <p:nvPr/>
        </p:nvSpPr>
        <p:spPr>
          <a:xfrm>
            <a:off x="5110639" y="455414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Четкий ввод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110639" y="5019913"/>
            <a:ext cx="3024188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Минимизация ошибок при регистрации данных о нарушении.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302681" y="5034915"/>
            <a:ext cx="538639" cy="538639"/>
          </a:xfrm>
          <a:prstGeom prst="roundRect">
            <a:avLst>
              <a:gd name="adj" fmla="val 6001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340" y="5135880"/>
            <a:ext cx="269319" cy="33659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3790" y="6269712"/>
            <a:ext cx="7556421" cy="1241346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16" name="Shape 12"/>
          <p:cNvSpPr/>
          <p:nvPr/>
        </p:nvSpPr>
        <p:spPr>
          <a:xfrm>
            <a:off x="793790" y="6269712"/>
            <a:ext cx="7556421" cy="30480"/>
          </a:xfrm>
          <a:prstGeom prst="roundRect">
            <a:avLst>
              <a:gd name="adj" fmla="val 106046"/>
            </a:avLst>
          </a:prstGeom>
          <a:solidFill>
            <a:srgbClr val="575757"/>
          </a:solidFill>
          <a:ln/>
        </p:spPr>
      </p:sp>
      <p:sp>
        <p:nvSpPr>
          <p:cNvPr id="17" name="Text 13"/>
          <p:cNvSpPr/>
          <p:nvPr/>
        </p:nvSpPr>
        <p:spPr>
          <a:xfrm>
            <a:off x="1009174" y="648509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Мгновенный доступ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1009174" y="6950869"/>
            <a:ext cx="680239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Просмотр фото/видео и базы данных нарушителей.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0565"/>
            <a:ext cx="683109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План разработки: Диаграмма Ганта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24238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График работ демонстрирует ключевые этапы проекта, сроки их выполнения и ответственных лиц, обеспечивая прозрачное управление процессом.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03770" y="1956911"/>
            <a:ext cx="22860" cy="5562005"/>
          </a:xfrm>
          <a:prstGeom prst="roundRect">
            <a:avLst>
              <a:gd name="adj" fmla="val 104186"/>
            </a:avLst>
          </a:prstGeom>
          <a:solidFill>
            <a:srgbClr val="575757"/>
          </a:solidFill>
          <a:ln/>
        </p:spPr>
      </p:sp>
      <p:sp>
        <p:nvSpPr>
          <p:cNvPr id="5" name="Shape 3"/>
          <p:cNvSpPr/>
          <p:nvPr/>
        </p:nvSpPr>
        <p:spPr>
          <a:xfrm>
            <a:off x="7020520" y="2124075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575757"/>
          </a:solidFill>
          <a:ln/>
        </p:spPr>
      </p:sp>
      <p:sp>
        <p:nvSpPr>
          <p:cNvPr id="6" name="Shape 4"/>
          <p:cNvSpPr/>
          <p:nvPr/>
        </p:nvSpPr>
        <p:spPr>
          <a:xfrm>
            <a:off x="7255669" y="2075974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F5F547"/>
          </a:solidFill>
          <a:ln/>
        </p:spPr>
      </p:sp>
      <p:sp>
        <p:nvSpPr>
          <p:cNvPr id="7" name="Text 5"/>
          <p:cNvSpPr/>
          <p:nvPr/>
        </p:nvSpPr>
        <p:spPr>
          <a:xfrm>
            <a:off x="3771543" y="2011442"/>
            <a:ext cx="290857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Анализ требований (Калачев)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2354699"/>
            <a:ext cx="58863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Сбор и документирование требований ГИБДД. (Месяц 1)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92340" y="3076694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575757"/>
          </a:solidFill>
          <a:ln/>
        </p:spPr>
      </p:sp>
      <p:sp>
        <p:nvSpPr>
          <p:cNvPr id="10" name="Shape 8"/>
          <p:cNvSpPr/>
          <p:nvPr/>
        </p:nvSpPr>
        <p:spPr>
          <a:xfrm>
            <a:off x="7255669" y="3028593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F5F547"/>
          </a:solidFill>
          <a:ln/>
        </p:spPr>
      </p:sp>
      <p:sp>
        <p:nvSpPr>
          <p:cNvPr id="11" name="Text 9"/>
          <p:cNvSpPr/>
          <p:nvPr/>
        </p:nvSpPr>
        <p:spPr>
          <a:xfrm>
            <a:off x="7950279" y="2964061"/>
            <a:ext cx="361985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Проектирование системы (Караулов)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50279" y="3307318"/>
            <a:ext cx="58863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Разработка архитектуры и дизайна интерфейса. (Месяц 2)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20520" y="3897749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575757"/>
          </a:solidFill>
          <a:ln/>
        </p:spPr>
      </p:sp>
      <p:sp>
        <p:nvSpPr>
          <p:cNvPr id="14" name="Shape 12"/>
          <p:cNvSpPr/>
          <p:nvPr/>
        </p:nvSpPr>
        <p:spPr>
          <a:xfrm>
            <a:off x="7255669" y="3849648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F5F547"/>
          </a:solidFill>
          <a:ln/>
        </p:spPr>
      </p:sp>
      <p:sp>
        <p:nvSpPr>
          <p:cNvPr id="15" name="Text 13"/>
          <p:cNvSpPr/>
          <p:nvPr/>
        </p:nvSpPr>
        <p:spPr>
          <a:xfrm>
            <a:off x="3344466" y="3785116"/>
            <a:ext cx="333565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Разработка интерфейса (Денисов)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4128373"/>
            <a:ext cx="58863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удобного пользовательского интерфейса. (Месяцы 3-4)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2340" y="4718923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575757"/>
          </a:solidFill>
          <a:ln/>
        </p:spPr>
      </p:sp>
      <p:sp>
        <p:nvSpPr>
          <p:cNvPr id="18" name="Shape 16"/>
          <p:cNvSpPr/>
          <p:nvPr/>
        </p:nvSpPr>
        <p:spPr>
          <a:xfrm>
            <a:off x="7255669" y="4670822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F5F547"/>
          </a:solidFill>
          <a:ln/>
        </p:spPr>
      </p:sp>
      <p:sp>
        <p:nvSpPr>
          <p:cNvPr id="19" name="Text 17"/>
          <p:cNvSpPr/>
          <p:nvPr/>
        </p:nvSpPr>
        <p:spPr>
          <a:xfrm>
            <a:off x="7950279" y="4606290"/>
            <a:ext cx="374189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Разработка БД и интеграция (Калачев)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950279" y="4949547"/>
            <a:ext cx="58863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базы данных и настройка интеграции с ГИБДД. (Месяцы 4-5)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020520" y="5540097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575757"/>
          </a:solidFill>
          <a:ln/>
        </p:spPr>
      </p:sp>
      <p:sp>
        <p:nvSpPr>
          <p:cNvPr id="22" name="Shape 20"/>
          <p:cNvSpPr/>
          <p:nvPr/>
        </p:nvSpPr>
        <p:spPr>
          <a:xfrm>
            <a:off x="7255669" y="5491996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F5F547"/>
          </a:solidFill>
          <a:ln/>
        </p:spPr>
      </p:sp>
      <p:sp>
        <p:nvSpPr>
          <p:cNvPr id="23" name="Text 21"/>
          <p:cNvSpPr/>
          <p:nvPr/>
        </p:nvSpPr>
        <p:spPr>
          <a:xfrm>
            <a:off x="3233976" y="5427464"/>
            <a:ext cx="344614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Тестирование и отладка (Караулов)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93790" y="5770721"/>
            <a:ext cx="58863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Полное функциональное и нагрузочное тестирование. (Месяц 6)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292340" y="6361271"/>
            <a:ext cx="317540" cy="22860"/>
          </a:xfrm>
          <a:prstGeom prst="roundRect">
            <a:avLst>
              <a:gd name="adj" fmla="val 104186"/>
            </a:avLst>
          </a:prstGeom>
          <a:solidFill>
            <a:srgbClr val="575757"/>
          </a:solidFill>
          <a:ln/>
        </p:spPr>
      </p:sp>
      <p:sp>
        <p:nvSpPr>
          <p:cNvPr id="26" name="Shape 24"/>
          <p:cNvSpPr/>
          <p:nvPr/>
        </p:nvSpPr>
        <p:spPr>
          <a:xfrm>
            <a:off x="7255669" y="6313170"/>
            <a:ext cx="119063" cy="119063"/>
          </a:xfrm>
          <a:prstGeom prst="roundRect">
            <a:avLst>
              <a:gd name="adj" fmla="val 383998"/>
            </a:avLst>
          </a:prstGeom>
          <a:solidFill>
            <a:srgbClr val="F5F547"/>
          </a:solidFill>
          <a:ln/>
        </p:spPr>
      </p:sp>
      <p:sp>
        <p:nvSpPr>
          <p:cNvPr id="27" name="Text 25"/>
          <p:cNvSpPr/>
          <p:nvPr/>
        </p:nvSpPr>
        <p:spPr>
          <a:xfrm>
            <a:off x="7950279" y="6248638"/>
            <a:ext cx="32444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Внедрение и обучение (Денисов)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950279" y="6591895"/>
            <a:ext cx="58863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 системы и обучение сотрудников. (Месяц 7)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26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26118"/>
            <a:ext cx="13042821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Нормативная база: Законодательные основы работы с нарушителями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93790" y="4544497"/>
            <a:ext cx="130428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Работа сотрудника милиции по пресечению нарушений ПДД строго регламентирована федеральным законодательством, что обеспечивает законность всех действий.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3790" y="5280184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КоАП РФ:</a:t>
            </a:r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Основной документ, регламентирующий административную ответственность за нарушения ПДД и порядок привлечения к ней.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3790" y="5611892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Федеральный закон "О полиции":</a:t>
            </a:r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Определяет права и обязанности сотрудников, включая применение мер принуждения и составление протоколов.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3790" y="5943600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Приказы МВД:</a:t>
            </a:r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Детализированные инструкции и методические указания по оформлению процессуальных документов.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3790" y="6407110"/>
            <a:ext cx="13042821" cy="722709"/>
          </a:xfrm>
          <a:prstGeom prst="roundRect">
            <a:avLst>
              <a:gd name="adj" fmla="val 3531"/>
            </a:avLst>
          </a:prstGeom>
          <a:solidFill>
            <a:srgbClr val="49490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11" y="6668929"/>
            <a:ext cx="212646" cy="170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46478" y="6619637"/>
            <a:ext cx="1232011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Следите за изменениями: Рассматривается повышение штрафов за нарушения ПДД, что требует постоянной актуализации знаний и систем.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1983"/>
            <a:ext cx="7189113" cy="494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Типы нарушений и методы фиксации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1647" y="1433393"/>
            <a:ext cx="1304710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Разнообразие нарушений требует применения различных технических и процессуальных методов фиксации. Автоматизация играет ключевую роль.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647" y="2042993"/>
            <a:ext cx="474940" cy="4749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1647" y="2715816"/>
            <a:ext cx="2200037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Превышение скорости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1647" y="3121343"/>
            <a:ext cx="7673697" cy="50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Фиксируется стационарными камерами, мобильными радарами и комплексами автоматической фиксации.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47" y="3944660"/>
            <a:ext cx="474940" cy="4749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1647" y="4617482"/>
            <a:ext cx="2154436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Запрещающий сигнал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91647" y="5023009"/>
            <a:ext cx="7673697" cy="50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Контролируется камерами, установленными на перекрестках, а также патрульными видеорегистраторами.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47" y="5846326"/>
            <a:ext cx="474940" cy="4749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1647" y="6519148"/>
            <a:ext cx="2081093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Нарушение парковки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1647" y="6924675"/>
            <a:ext cx="7673697" cy="50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Фиксация инспекторами вручную, а также специальными мобильными комплексами "Паркон" и эвакуаторами.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859203" y="2023110"/>
            <a:ext cx="3683318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Статистика автоматической фиксации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859203" y="2428637"/>
            <a:ext cx="4987052" cy="76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2024 году, благодаря дорожным камерам, было вынесено более 237 миллионов постановлений, что подчеркивает значимость автоматизированных систем.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9203" y="3366849"/>
            <a:ext cx="3490912" cy="34909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073" y="608409"/>
            <a:ext cx="8397359" cy="448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Процесс оформления нарушения: Шаг за шагом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3073" y="1344097"/>
            <a:ext cx="13084254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Процесс оформления правонарушения представляет собой строгую последовательность действий, которые должны быть выполнены сотрудником милиции.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3073" y="1735217"/>
            <a:ext cx="574238" cy="861417"/>
          </a:xfrm>
          <a:prstGeom prst="roundRect">
            <a:avLst>
              <a:gd name="adj" fmla="val 360057"/>
            </a:avLst>
          </a:prstGeom>
          <a:solidFill>
            <a:srgbClr val="3E3E3E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031325"/>
            <a:ext cx="21526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90782" y="1878687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Остановка ТС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90782" y="2188964"/>
            <a:ext cx="12366546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Безопасная и законная остановка транспортного средства (ТС) нарушителя.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3073" y="2740104"/>
            <a:ext cx="574238" cy="861417"/>
          </a:xfrm>
          <a:prstGeom prst="roundRect">
            <a:avLst>
              <a:gd name="adj" fmla="val 360057"/>
            </a:avLst>
          </a:prstGeom>
          <a:solidFill>
            <a:srgbClr val="3E3E3E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036213"/>
            <a:ext cx="21526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90782" y="2883575"/>
            <a:ext cx="2104311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Установление личности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90782" y="3193852"/>
            <a:ext cx="12366546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документов и установление личности водителя и владельца ТС.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3073" y="3744992"/>
            <a:ext cx="574238" cy="861417"/>
          </a:xfrm>
          <a:prstGeom prst="roundRect">
            <a:avLst>
              <a:gd name="adj" fmla="val 360057"/>
            </a:avLst>
          </a:prstGeom>
          <a:solidFill>
            <a:srgbClr val="3E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041100"/>
            <a:ext cx="21526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90782" y="3888462"/>
            <a:ext cx="2023586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Выявление нарушения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90782" y="4198739"/>
            <a:ext cx="12366546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Официальная фиксация факта нарушения, сбор доказательств (фото, видео).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3073" y="4749879"/>
            <a:ext cx="574238" cy="861417"/>
          </a:xfrm>
          <a:prstGeom prst="roundRect">
            <a:avLst>
              <a:gd name="adj" fmla="val 360057"/>
            </a:avLst>
          </a:prstGeom>
          <a:solidFill>
            <a:srgbClr val="3E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045988"/>
            <a:ext cx="21526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90782" y="4893350"/>
            <a:ext cx="2085737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Составление протокола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90782" y="5203627"/>
            <a:ext cx="12366546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Оформление протокола об административном правонарушении с указанием всех обстоятельств.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3073" y="5754767"/>
            <a:ext cx="574238" cy="861417"/>
          </a:xfrm>
          <a:prstGeom prst="roundRect">
            <a:avLst>
              <a:gd name="adj" fmla="val 360057"/>
            </a:avLst>
          </a:prstGeom>
          <a:solidFill>
            <a:srgbClr val="3E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6050875"/>
            <a:ext cx="21526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490782" y="5898237"/>
            <a:ext cx="2362676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Вынесение постановления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90782" y="6208514"/>
            <a:ext cx="12366546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Принятие решения о наложении административного штрафа (или иного взыскания).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3073" y="6759654"/>
            <a:ext cx="574238" cy="861417"/>
          </a:xfrm>
          <a:prstGeom prst="roundRect">
            <a:avLst>
              <a:gd name="adj" fmla="val 360057"/>
            </a:avLst>
          </a:prstGeom>
          <a:solidFill>
            <a:srgbClr val="3E3E3E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7055763"/>
            <a:ext cx="21526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90782" y="6903125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Вручение копии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90782" y="7213402"/>
            <a:ext cx="12366546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Обеспечение водителя копией протокола и постановления для ознакомления.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045" y="862608"/>
            <a:ext cx="12543949" cy="56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Взаимодействие с нарушителями: Практические аспекты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665" y="1902262"/>
            <a:ext cx="4281726" cy="215955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337" y="1902262"/>
            <a:ext cx="4281726" cy="215955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009" y="1902262"/>
            <a:ext cx="4281726" cy="215955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10960" y="4584025"/>
            <a:ext cx="12878395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Вежливость и Профессионализм: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Ключ к успешному взаимодействию, снижению конфликтов и повышению доверия граждан.</a:t>
            </a:r>
            <a:endParaRPr lang="en-US" sz="1750" dirty="0"/>
          </a:p>
        </p:txBody>
      </p:sp>
      <p:sp>
        <p:nvSpPr>
          <p:cNvPr id="7" name="Shape 2"/>
          <p:cNvSpPr/>
          <p:nvPr/>
        </p:nvSpPr>
        <p:spPr>
          <a:xfrm>
            <a:off x="741045" y="4381619"/>
            <a:ext cx="22860" cy="1124426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8" name="Shape 3"/>
          <p:cNvSpPr/>
          <p:nvPr/>
        </p:nvSpPr>
        <p:spPr>
          <a:xfrm>
            <a:off x="741045" y="5708452"/>
            <a:ext cx="6484144" cy="1658541"/>
          </a:xfrm>
          <a:prstGeom prst="roundRect">
            <a:avLst>
              <a:gd name="adj" fmla="val 6616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18185" y="5708452"/>
            <a:ext cx="91440" cy="1658541"/>
          </a:xfrm>
          <a:prstGeom prst="roundRect">
            <a:avLst>
              <a:gd name="adj" fmla="val 29523"/>
            </a:avLst>
          </a:prstGeom>
          <a:solidFill>
            <a:srgbClr val="F5F547"/>
          </a:solidFill>
          <a:ln/>
        </p:spPr>
      </p:sp>
      <p:sp>
        <p:nvSpPr>
          <p:cNvPr id="10" name="Text 5"/>
          <p:cNvSpPr/>
          <p:nvPr/>
        </p:nvSpPr>
        <p:spPr>
          <a:xfrm>
            <a:off x="1012388" y="5911215"/>
            <a:ext cx="2249567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Культура общения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012388" y="6300192"/>
            <a:ext cx="6010037" cy="8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Необходимо строго следовать должностному регламенту, сохраняя спокойствие и уважительное отношение даже в конфликтных ситуациях.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405092" y="5708452"/>
            <a:ext cx="6484263" cy="1658541"/>
          </a:xfrm>
          <a:prstGeom prst="roundRect">
            <a:avLst>
              <a:gd name="adj" fmla="val 6616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382232" y="5708452"/>
            <a:ext cx="91440" cy="1658541"/>
          </a:xfrm>
          <a:prstGeom prst="roundRect">
            <a:avLst>
              <a:gd name="adj" fmla="val 29523"/>
            </a:avLst>
          </a:prstGeom>
          <a:solidFill>
            <a:srgbClr val="F5F547"/>
          </a:solidFill>
          <a:ln/>
        </p:spPr>
      </p:sp>
      <p:sp>
        <p:nvSpPr>
          <p:cNvPr id="14" name="Text 9"/>
          <p:cNvSpPr/>
          <p:nvPr/>
        </p:nvSpPr>
        <p:spPr>
          <a:xfrm>
            <a:off x="7676436" y="5911215"/>
            <a:ext cx="2249567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Разъяснение прав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676436" y="6300192"/>
            <a:ext cx="6010156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Обеспечение прозрачности процесса: четкое и понятное разъяснение водителю сути нарушения, его прав и обязанностей.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2025-10-07T10:37:33Z</dcterms:created>
  <dcterms:modified xsi:type="dcterms:W3CDTF">2025-10-07T10:37:33Z</dcterms:modified>
</cp:coreProperties>
</file>